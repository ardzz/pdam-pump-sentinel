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371600"/>
            <a:ext cx="594360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4200" b="1">
                <a:solidFill>
                  <a:srgbClr val="1C1E38"/>
                </a:solidFill>
                <a:latin typeface="Aptos"/>
              </a:defRPr>
            </a:pPr>
            <a:r>
              <a:t>PDAM Pump 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212848"/>
            <a:ext cx="60350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0">
                <a:solidFill>
                  <a:srgbClr val="1E6EA0"/>
                </a:solidFill>
                <a:latin typeface="Aptos"/>
              </a:defRPr>
            </a:pPr>
            <a:r>
              <a:t>Multivariate anomaly detection on pump sensors — SKAB surrogate, PCA T2/Q champion.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1E38"/>
                </a:solidFill>
                <a:latin typeface="Aptos"/>
              </a:defRPr>
            </a:pPr>
            <a:r>
              <a:t>End-to-end anomaly-detection slice: sensors, multivariate detection, model lifecycle, operator dashboard.</a:t>
            </a:r>
          </a:p>
          <a:p>
            <a:pPr>
              <a:spcAft>
                <a:spcPts val="700"/>
              </a:spcAft>
              <a:defRPr sz="1600">
                <a:solidFill>
                  <a:srgbClr val="1C1E38"/>
                </a:solidFill>
                <a:latin typeface="Aptos"/>
              </a:defRPr>
            </a:pPr>
            <a:r>
              <a:t>SKAB water-circulation benchmark is used as surrogate academic data, not real PDAM field data.</a:t>
            </a:r>
          </a:p>
          <a:p>
            <a:pPr>
              <a:spcAft>
                <a:spcPts val="700"/>
              </a:spcAft>
              <a:defRPr sz="1600">
                <a:solidFill>
                  <a:srgbClr val="1C1E38"/>
                </a:solidFill>
                <a:latin typeface="Aptos"/>
              </a:defRPr>
            </a:pPr>
            <a:r>
              <a:t>Focus of this talk: how the system detects faults, and the honest evidence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1554480" cy="1508760"/>
          </a:xfrm>
          <a:prstGeom prst="roundRect">
            <a:avLst/>
          </a:prstGeom>
          <a:solidFill>
            <a:srgbClr val="EEF0F8"/>
          </a:solidFill>
          <a:ln w="25400"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056631"/>
            <a:ext cx="1225296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600" b="1">
                <a:solidFill>
                  <a:srgbClr val="00807C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5715000"/>
            <a:ext cx="126187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1C1E38"/>
                </a:solidFill>
                <a:latin typeface="Aptos"/>
              </a:defRPr>
            </a:pPr>
            <a:r>
              <a:t>DevOps + RouteMQ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892040"/>
            <a:ext cx="1554480" cy="1508760"/>
          </a:xfrm>
          <a:prstGeom prst="roundRect">
            <a:avLst/>
          </a:prstGeom>
          <a:solidFill>
            <a:srgbClr val="EEF0F8"/>
          </a:solidFill>
          <a:ln w="25400">
            <a:solidFill>
              <a:srgbClr val="E6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5056631"/>
            <a:ext cx="1225296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600" b="1">
                <a:solidFill>
                  <a:srgbClr val="E6961E"/>
                </a:solidFill>
                <a:latin typeface="Aptos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4" y="5715000"/>
            <a:ext cx="126187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1C1E38"/>
                </a:solidFill>
                <a:latin typeface="Aptos"/>
              </a:defRPr>
            </a:pPr>
            <a:r>
              <a:t>AI/ML + MLOps</a:t>
            </a:r>
          </a:p>
        </p:txBody>
      </p:sp>
      <p:pic>
        <p:nvPicPr>
          <p:cNvPr id="12" name="Picture 11" descr="slide-overview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548889"/>
            <a:ext cx="4983480" cy="24917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README.md; docs/plans/design.md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Why This Problem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Pump faults are multivariate and gradual, and single-sensor limits miss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E38"/>
                </a:solidFill>
                <a:latin typeface="Aptos"/>
              </a:defRPr>
            </a:pPr>
            <a:r>
              <a:t>Centrifugal pumps are critical assets in water distribution operations.</a:t>
            </a:r>
          </a:p>
          <a:p>
            <a:pPr>
              <a:spcAft>
                <a:spcPts val="700"/>
              </a:spcAft>
              <a:defRPr sz="1800">
                <a:solidFill>
                  <a:srgbClr val="1C1E38"/>
                </a:solidFill>
                <a:latin typeface="Aptos"/>
              </a:defRPr>
            </a:pPr>
            <a:r>
              <a:t>Faults show up as cross-sensor pattern shifts, not one value crossing a line.</a:t>
            </a:r>
          </a:p>
          <a:p>
            <a:pPr>
              <a:spcAft>
                <a:spcPts val="700"/>
              </a:spcAft>
              <a:defRPr sz="1800">
                <a:solidFill>
                  <a:srgbClr val="1C1E38"/>
                </a:solidFill>
                <a:latin typeface="Aptos"/>
              </a:defRPr>
            </a:pPr>
            <a:r>
              <a:t>Goal: early multivariate condition monitoring, not just post-failure alarms.</a:t>
            </a:r>
          </a:p>
        </p:txBody>
      </p:sp>
      <p:pic>
        <p:nvPicPr>
          <p:cNvPr id="7" name="Picture 6" descr="slide-problem-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14923"/>
            <a:ext cx="5029200" cy="2759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docs/plans/design.md §2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Anomaly 1: Point Anomaly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A single sensor reading spikes or drops sharply for an instant.</a:t>
            </a:r>
          </a:p>
        </p:txBody>
      </p:sp>
      <p:pic>
        <p:nvPicPr>
          <p:cNvPr id="6" name="Picture 5" descr="problem-anomaly-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034" y="1737360"/>
            <a:ext cx="830402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A momentary spike or drop in one sensor (general anomaly taxonomy, illustrative).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Min/max only catches it when the value crosses the static limit.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A short spike that stays inside the band still slips 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docs/plans/design.md §2 (taxonomy is illustrative, not SKAB-defined)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3/27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Anomaly 2: Context Anomaly / Change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Normal in another context, but abnormal for the current regime.</a:t>
            </a:r>
          </a:p>
        </p:txBody>
      </p:sp>
      <p:pic>
        <p:nvPicPr>
          <p:cNvPr id="6" name="Picture 5" descr="problem-anomaly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034" y="1737360"/>
            <a:ext cx="830402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The level shifts to a new baseline without ever touching the static limit.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Min/max has no context memory, so this drift slips through.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SKAB labels separate outliers from change points and collective anomalies.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docs/plans/design.md §2; ml/features/windowing.py:54-59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4/27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Anomaly 3: Pattern / Subsequence Anomaly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A run of points forms an odd shape, for example a stuck or flatline segment.</a:t>
            </a:r>
          </a:p>
        </p:txBody>
      </p:sp>
      <p:pic>
        <p:nvPicPr>
          <p:cNvPr id="6" name="Picture 5" descr="problem-anomaly-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034" y="1737360"/>
            <a:ext cx="830402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A frozen or repeating segment looks calm to min/max (illustrative taxonomy).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What breaks is the time-series shape, not the amplitude.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The 60-sample window makes this short episode visible to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docs/plans/design.md §2; ml/features/windowing.py:54-59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5/27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Anomaly 4: Multivariate Relationship Anomaly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Each channel looks fine, but the relationship between sensors breaks.</a:t>
            </a:r>
          </a:p>
        </p:txBody>
      </p:sp>
      <p:pic>
        <p:nvPicPr>
          <p:cNvPr id="6" name="Picture 5" descr="problem-anomaly-multivari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72" y="1737360"/>
            <a:ext cx="973355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Real example: Accelerometer1 vs Accelerometer2 correlation goes from -0.45 (normal baseline) to +0.997 over the fault-file test split.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Per-sensor thresholds never see the relationship across sensors.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PCA T2/Q learns the joint structure of normal sensors and flags the break.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train/test correlation_matrix.csv; belajar-pca-t2-q-spectral-manual.md:58-67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6/27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Why Min/Max Alone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A static threshold only checks one sensor against one fixed limit.</a:t>
            </a:r>
          </a:p>
        </p:txBody>
      </p:sp>
      <p:pic>
        <p:nvPicPr>
          <p:cNvPr id="6" name="Picture 5" descr="problem-minmax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98" y="1737360"/>
            <a:ext cx="811530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A spike that crosses the limit is indeed caught.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A context shift rises to a new regime yet stays inside the min/max band, so it is missed.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Three of the four anomaly families are out of reach for a static limit.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docs/plans/design.md §2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7/27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EDA: What the Data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Structural facts about SKAB before any modeling.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903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8 sensors at ~1 Hz: 2 accelerometers (vibration), current, pressure, temperature, thermocouple, voltage, volume flow. Missing values: 0%.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No physical units are published with the dataset, so sensors are named by role.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Honest split (per file): train 1 file (anomaly-free, 9405 rows, all normal), validation 16 valve1 files, test 18 valve2+other files.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Windowed at 60 samples / stride 1: train 9346 normal windows; validation 9963 normal / 7253 anomaly; test 10527 / 7652.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The test files are concatenated, so the timeline is not one continuous 1 Hz stream.</a:t>
            </a:r>
          </a:p>
        </p:txBody>
      </p:sp>
      <p:pic>
        <p:nvPicPr>
          <p:cNvPr id="8" name="Picture 7" descr="slide-data-s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31720"/>
            <a:ext cx="3703320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skab_loader.py:6-15; data/skab_split_manifest.json; 02_pca_spectral/metrics.json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8/27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EDA: Sensors Move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Sensors are tightly coupled in normal operation; the joint structure shifts under fault.</a:t>
            </a:r>
          </a:p>
        </p:txBody>
      </p:sp>
      <p:pic>
        <p:nvPicPr>
          <p:cNvPr id="6" name="Picture 5" descr="eda-correlation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304" y="1737360"/>
            <a:ext cx="741548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Normal baseline shows strong couplings, e.g. Temperature-Thermocouple -0.89 and Thermocouple-Volume Flow +0.83; under fault these change sign or strength.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That coupling is exactly what PCA learns as normal, and what Q/SPE flags when it breaks.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Per-sensor ranges also drift in fault, e.g. Volume Flow p01 121 to 15, Thermocouple max 29.5 to 33.4.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train/test correlation_matrix.csv; sensor_distributions.csv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9/27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Candidate Models: Supervised vs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Same dataset, same split — the difference is what each model sees in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00807C"/>
          </a:solidFill>
          <a:ln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903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Unsupervised — train on normal-only windows, can flag novel faults: PCA T2/Q (spectral champion, raw, feature-bagging), Isolation Forest (+ conformal), One-Class SVM, LSTM autoencoder (+ DBSCAN), plus forecasting-residual and distance-profile baselines.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Supervised — need labeled normal + fault rows, only recognize trained fault types: XGBoost and LightGBM.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Both families emit an identical AnomalyVerdict (anomaly 0/1, score, t2, q); the pipeline cannot tell which model produced it.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Honest Day-1 split has a normal-only train file, so XGBoost/LightGBM are SKIPPED (single class [0]); unsupervised is the only family that can train.</a:t>
            </a:r>
          </a:p>
        </p:txBody>
      </p:sp>
      <p:pic>
        <p:nvPicPr>
          <p:cNvPr id="8" name="Picture 7" descr="model-candidates-training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590602"/>
            <a:ext cx="3977639" cy="31855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ml/inference/pca_inference.py:22-35; ml/inference/supervised_inference.py:29-42; summary.md:31-33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10/27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Model Inputs: Rows to Windows to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One shared contract feeds every candidate model.</a:t>
            </a:r>
          </a:p>
        </p:txBody>
      </p:sp>
      <p:pic>
        <p:nvPicPr>
          <p:cNvPr id="6" name="Picture 5" descr="supervised-vs-unsupervised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00" y="1737360"/>
            <a:ext cx="5915695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Shared input: 60-sample windows (stride 1), raw or spectral FFT features — identical for every candidate.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What differs is data usage: supervised trains on labeled normal + fault rows; unsupervised (PCA champion, RobustScaler) trains on normal-only windows.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ml/features/windowing.py:20-61; ml/features/spectral.py:53-82; ml/training/pca_detector.py:30-35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11/27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Modeling Results: Honest F1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The same model looks very different depending on split honesty.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1554480" cy="365760"/>
          </a:xfrm>
          <a:prstGeom prst="roundRect">
            <a:avLst/>
          </a:prstGeom>
          <a:solidFill>
            <a:srgbClr val="00807C"/>
          </a:solidFill>
          <a:ln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Modeling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103120"/>
          <a:ext cx="10881360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1371600"/>
                <a:gridCol w="5212080"/>
              </a:tblGrid>
              <a:tr h="32004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anchor="ctr" marL="82296" marR="64008" marT="9144" marB="9144">
                    <a:solidFill>
                      <a:srgbClr val="00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anchor="ctr" marL="82296" marR="64008" marT="9144" marB="9144">
                    <a:solidFill>
                      <a:srgbClr val="00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Family / note</a:t>
                      </a:r>
                    </a:p>
                  </a:txBody>
                  <a:tcPr anchor="ctr" marL="82296" marR="64008" marT="9144" marB="9144">
                    <a:solidFill>
                      <a:srgbClr val="00807C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02_pca_spectral</a:t>
                      </a:r>
                    </a:p>
                  </a:txBody>
                  <a:tcPr anchor="ctr" marL="82296" marR="64008" marT="9144" marB="9144">
                    <a:solidFill>
                      <a:srgbClr val="289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0.558</a:t>
                      </a:r>
                    </a:p>
                  </a:txBody>
                  <a:tcPr anchor="ctr" marL="82296" marR="64008" marT="9144" marB="9144">
                    <a:solidFill>
                      <a:srgbClr val="2896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CHAMPION (deployed) — P 0.549 / R 0.568 — T2 1.0776, Q 6139.43</a:t>
                      </a:r>
                    </a:p>
                  </a:txBody>
                  <a:tcPr anchor="ctr" marL="82296" marR="64008" marT="9144" marB="9144">
                    <a:solidFill>
                      <a:srgbClr val="28966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IsoForest-conformal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0.519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PCA-bagging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0.519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IsoForest-spectral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0.493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PCA-raw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0.490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distance-profile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0.467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 baseline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forecasting-naive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0.443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LSTM-AE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0.260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 (deep)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LSTM-DBSCAN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0.225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 (deep)</a:t>
                      </a:r>
                    </a:p>
                  </a:txBody>
                  <a:tcPr anchor="ctr" marL="82296" marR="64008" marT="9144" marB="9144">
                    <a:solidFill>
                      <a:srgbClr val="EEF0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OneClassSVM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1C1E38"/>
                          </a:solidFill>
                          <a:latin typeface="Aptos"/>
                        </a:defRPr>
                      </a:pPr>
                      <a:r>
                        <a:t>unsupervised (collapsed)</a:t>
                      </a:r>
                    </a:p>
                  </a:txBody>
                  <a:tcPr anchor="ctr" marL="82296" marR="6400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" y="5769864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D04050"/>
                </a:solidFill>
                <a:latin typeface="Aptos"/>
              </a:defRPr>
            </a:pPr>
            <a:r>
              <a:t>Context only — NOT the deployed model: supervised cross-group ~0.60 (AUC 0.937), in-distribution XGB 0.909 / LGBM 0.905, random-window 0.985 = leakage. Never present an in-distribution number as novel-fault readiness.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summary.md:22-33; docs/adr/0001-honest-eval-split-strategy.md; sprint-remaining.md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12/27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Why PCA-Spectral as Day-1 Champion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Chosen for a continuous-learning loop: cheap, deterministic retraining, not just F1.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00807C"/>
          </a:solidFill>
          <a:ln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903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Industrial predictive maintenance retrains on a cadence (scheduled ~30 min + drift-triggered, PCA path), so the detector must be cheap and deterministic.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PCA retrains in a single full-SVD pass with closed-form thresholds: no epochs, no gradient descent, no hyperparameter search, reproducible for the champion-challenger gate.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It also deploys before a labeled fault inventory exists (normal-only cold start), where supervised XGBoost/LightGBM cannot even train.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Fast, decomposable, and operator-explainable; the mathematical proof of its low cost is on the next slide.</a:t>
            </a:r>
          </a:p>
        </p:txBody>
      </p:sp>
      <p:pic>
        <p:nvPicPr>
          <p:cNvPr id="8" name="Picture 7" descr="slide-pca-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857500"/>
            <a:ext cx="3977639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labeling-strategy-notes.md:5-8; docs/adr/0001-honest-eval-split-strategy.md:16-20; ml/monitoring/scheduler.py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13/27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PCA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One full SVD trains it; everything after is closed-form.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00807C"/>
          </a:solidFill>
          <a:ln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903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Train once: fit RobustScaler, then a single full SVD on the normal windows (n=9346 rows, d=64 spectral features); keep components for 90% variance.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Training cost is that SVD: O(n*d^2 + d^3); thresholds are p95 empirical quantiles (one O(n log n) sort). No epochs, no backprop, no hyperparameter search.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Inference per window = project then reconstruct = O(d*k), where k is the kept components; deterministic and CPU-only.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Contrast: LSTM-AE trains ~100 epochs of backprop per retrain; PCA trains in one SVD, so retraining on cadence stays cheap.</a:t>
            </a:r>
          </a:p>
        </p:txBody>
      </p:sp>
      <p:pic>
        <p:nvPicPr>
          <p:cNvPr id="8" name="Picture 7" descr="pca-vs-lstm-retrain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648" y="2331720"/>
            <a:ext cx="3939702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ml/training/pca_detector.py:42-64; ml/training/train_lstm_ae.py:38; belajar-pca-t2-q-spectral-manual.md:103-117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14/27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T2 vs Q/SPE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T2 = extreme along the normal road; Q/SPE = behavior that leaves the road.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00807C"/>
          </a:solidFill>
          <a:ln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903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T2 = sum(score^2 / explained_variance): extreme, but still on a pattern PCA already knows.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Q/SPE = squared reconstruction residual: the relationship itself changed.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Decision is OR: anomaly if T2 &gt; threshold OR Q &gt; threshold; thresholds are p95 quantiles of normal.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Reported score = max(T2/T2_thr, Q/Q_thr); the top sensor is the largest residual contributor, not a proven root cause.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Both statistics reuse one projection, so scoring a window is O(d*k): live inference adds negligible cost at the ~1 Hz cadence.</a:t>
            </a:r>
          </a:p>
        </p:txBody>
      </p:sp>
      <p:pic>
        <p:nvPicPr>
          <p:cNvPr id="8" name="Picture 7" descr="pca-reconstruct-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857500"/>
            <a:ext cx="3977639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ml/training/pca_detector.py:55-114; ml/inference/pca_inference.py:186-267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15/27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Spectral FFT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Spectral lets PCA see rhythm, not just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00807C"/>
          </a:solidFill>
          <a:ln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903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Each window is mean-centered per sensor, then summarized by mean, std, range, FFT band energies, and spectral centroid.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Bands are equal splits of the FFT energy bins (not named Hz bands); feature count = sensors x (n_bands + 4) = 64.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Dominant frequency is taught as intuition only; it is not a live feature column.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Intuition: a rhythm shift can move band energy before the raw level moves (illustrative, not a measured lead time).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Feature build is cheap: the per-window FFT is O(d log d) per channel, so spectral awareness does not change the low-cost profile.</a:t>
            </a:r>
          </a:p>
        </p:txBody>
      </p:sp>
      <p:pic>
        <p:nvPicPr>
          <p:cNvPr id="8" name="Picture 7" descr="pca-eigen-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857500"/>
            <a:ext cx="3977639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ml/features/spectral.py:53-82; ml/inference/pca_inference.py:270-284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16/27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What Is MLOps, and Why It Helps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Operationalizing the model lifecycle: train, deploy, monitor, retrain.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5532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MLOps keeps a model useful after the notebook: versioning, monitoring, drift, and safe updates.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In our case: deploy a champion on Day-1, watch for drift, retrain, and promote without downtime.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Tools: MLflow (registry), Evidently (drift), Prometheus + Grafana (signals), Streamlit (operator).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Operator actions (ack/mute/note) are captured as evidence, not yet as training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README.md:13-15,39-42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17/27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MLflow: Registry + Custom Promotion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One managed registry, plus a custom gate that decides promotions.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903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MLflow Model Registry: versioned models with a @champion alias; the app loads the champion and hot-swaps in-process.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A custom champion-challenger gate (project code, not an MLflow feature) makes the decision; MLflow then only moves the alias.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Gate: promote iff F1_challenger &gt; F1_champion + 0.02 AND FAR_challenger &lt;= FAR_champion x 1.05.</a:t>
            </a:r>
          </a:p>
          <a:p>
            <a:pPr>
              <a:spcAft>
                <a:spcPts val="700"/>
              </a:spcAft>
              <a:defRPr sz="1400">
                <a:solidFill>
                  <a:srgbClr val="1C1E38"/>
                </a:solidFill>
                <a:latin typeface="Aptos"/>
              </a:defRPr>
            </a:pPr>
            <a:r>
              <a:t>Schedulers (drift 15m, retrain 30m, refresh 5m) are off by default; hot-swap is process-local.</a:t>
            </a:r>
          </a:p>
        </p:txBody>
      </p:sp>
      <p:pic>
        <p:nvPicPr>
          <p:cNvPr id="8" name="Picture 7" descr="mlops-evidenc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31720"/>
            <a:ext cx="3703320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ml/monitoring/champion_challenger.py:8-32; docs/adr/0003-champion-challenger-promotion-gate.md:78-87; bootstrap/app.py:199-204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18/27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RouteMQ: Connect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One MQTT application framework wires ingest, ML, storage, and the operator view.</a:t>
            </a:r>
          </a:p>
        </p:txBody>
      </p:sp>
      <p:pic>
        <p:nvPicPr>
          <p:cNvPr id="6" name="Picture 5" descr="routemq-connec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374" y="1737360"/>
            <a:ext cx="813334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app/routers/telemetry.py; app/controllers/anomaly_controller.py; app/jobs/*; README.md:13-15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19/27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Layer 1 - Router: Ingest and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The entry point of the synchronous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5532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Subscribes the topic factory/skab/{station}/telemetry at QoS 1.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Routing is declarative: the matched topic dispatches to anomaly_controller.ingest.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A per-station wildcard keeps one route for every pump station.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Nothing heavy happens here; the Router only resolves topic to handler.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app/routers/telemetry.py:12-21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20/27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Layer 2 - Middleware: Validate, Rate-limit, Correlate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An ordered chain runs before the controller and protects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5532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ValidateTelemetryMiddleware: reject non-JSON payloads and empty sensor maps early.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InMemoryRateLimitMiddleware: cap 50 messages per second per station.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CorrelationLoggingMiddleware: attach a correlation id so a message is traceable end to end.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Order matters: bad or excess traffic is dropped before it reaches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app/middleware/validate_payload.py:9; app/middleware/rate_limit.py:11; app/middleware/correlation.py:10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21/27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Layer 3 - Controller, Inference,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The synchronous core: decide, publish,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5532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anomaly_controller calls the inference service, which loads the champion and scores the window (PCA T2/Q).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Inference is in-path and synchronous; it emits an AnomalyVerdict, not a queued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It publishes the result to factory/skab/{station}/anomaly at QoS 1.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Persistence is Redis latest-state first, then ClickHouse history for the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app/controllers/anomaly_controller.py:26-56; app/services/inference.py; app/services/persistence.py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22/27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Layer 4 - Queue/Worker: MLOps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The asynchronous lane where continuous learning lives.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5532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DriftReportJob and RetrainingJob run off the queue, not in the anomaly inference path.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They read ClickHouse/SKAB data and write the MLflow registry plus Redis report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The Controller picks up the new champion from MLflow; promotion is gated by the custom champion-challenger rule.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The scheduler is off by default (env flags), so the loop is opt-in, not always-on.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app/jobs/drift_report_job.py:26-29; app/jobs/retraining_job.py:47-50; ml/monitoring/scheduler.py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23/27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Operator Dashboard (Streamlit)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Seven operator pages over the same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Overview ("PDAM Pump Sentinel"): console-health banner, KPI tiles, station picker.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Live Sensor Monitoring: 5 s autorefresh, anomaly score, sensor status.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Anomaly History: timeline, severity buckets, drilldown.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Model Registry: active champion + version table.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Drift &amp; Retrain Reports; System Health: 10 s autorefresh, probes.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Operator Runbook + actions ack/mute/note that write Redis keys (not yet training labels).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92" y="1691639"/>
            <a:ext cx="6812279" cy="3877055"/>
          </a:xfrm>
          <a:prstGeom prst="roundRect">
            <a:avLst/>
          </a:prstGeom>
          <a:solidFill>
            <a:srgbClr val="EEF0F8"/>
          </a:solidFill>
          <a:ln w="15240"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9-observability-streamlit-observability-snapshot-20260628T0535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737360"/>
            <a:ext cx="6720840" cy="37856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5596128"/>
            <a:ext cx="6583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50" b="0">
                <a:solidFill>
                  <a:srgbClr val="6C748C"/>
                </a:solidFill>
                <a:latin typeface="Aptos"/>
              </a:defRPr>
            </a:pPr>
            <a:r>
              <a:t>t9-observability-streamlit-observability-snapshot-20260628T0535Z.png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dashboard/pages/*; dashboard/data.py:213-312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24/27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What Is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Asking arbitrary questions about a running system from the outside.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554480" cy="384048"/>
          </a:xfrm>
          <a:prstGeom prst="roundRect">
            <a:avLst/>
          </a:prstGeom>
          <a:solidFill>
            <a:srgbClr val="1E6EA0"/>
          </a:solidFill>
          <a:ln>
            <a:solidFill>
              <a:srgbClr val="1E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5532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Three pillars: metrics (numbers over time), logs (events), traces (request paths).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Goal: understand system state and behavior without redeploying or guessing.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It turns "is it healthy?" into a question you can answer with data.</a:t>
            </a:r>
          </a:p>
          <a:p>
            <a:pPr>
              <a:spcAft>
                <a:spcPts val="700"/>
              </a:spcAft>
              <a:defRPr sz="1500">
                <a:solidFill>
                  <a:srgbClr val="1C1E38"/>
                </a:solidFill>
                <a:latin typeface="Aptos"/>
              </a:defRPr>
            </a:pPr>
            <a:r>
              <a:t>It is the basis for alerting, triage, and an operator runbook.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general concept; infra/README.md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25/27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Observability in Our AIoT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What we actually implemented — local evidence, not production SRE.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Prometheus /metrics joins RouteMQ framework metrics with 15 pumpad_* application metrics.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Grafana dashboards: RouteMQ Observability, MLOps Loop, System Health, MQTT Broker.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Seven local alert rules: telemetry stale, inference/persistence errors, model age, high-severity anomalies.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This proves metrics + dashboards + local alerts; centralized logs/traces and incident routing are future.</a:t>
            </a:r>
          </a:p>
          <a:p>
            <a:pPr>
              <a:spcAft>
                <a:spcPts val="700"/>
              </a:spcAft>
              <a:defRPr sz="1350">
                <a:solidFill>
                  <a:srgbClr val="1C1E38"/>
                </a:solidFill>
                <a:latin typeface="Aptos"/>
              </a:defRPr>
            </a:pPr>
            <a:r>
              <a:t>All of it is local Docker Compose evidence, not a production cloud claim.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92" y="1691639"/>
            <a:ext cx="6812279" cy="3877055"/>
          </a:xfrm>
          <a:prstGeom prst="roundRect">
            <a:avLst/>
          </a:prstGeom>
          <a:solidFill>
            <a:srgbClr val="EEF0F8"/>
          </a:solidFill>
          <a:ln w="15240"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9-observability-grafana-pipeline-observability-20260609T130723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737360"/>
            <a:ext cx="6720840" cy="37856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5596128"/>
            <a:ext cx="6583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50" b="0">
                <a:solidFill>
                  <a:srgbClr val="6C748C"/>
                </a:solidFill>
                <a:latin typeface="Aptos"/>
              </a:defRPr>
            </a:pPr>
            <a:r>
              <a:t>t9-observability-grafana-pipeline-observability-20260609T130723Z.png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app/observability/metrics.py:33-99; infra/prometheus/rules/pumpad-alerts.yml:1-65; infra/README.md:8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26/27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C748C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972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1C1E38"/>
                </a:solidFill>
                <a:latin typeface="Aptos"/>
              </a:defRPr>
            </a:pPr>
            <a:r>
              <a:t>Limitations, Roadmap,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1E6EA0"/>
                </a:solidFill>
                <a:latin typeface="Aptos"/>
              </a:defRPr>
            </a:pPr>
            <a:r>
              <a:t>The MVP is demo-ready because its limits are explicit, not hidden.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373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E38"/>
                </a:solidFill>
                <a:latin typeface="Aptos"/>
              </a:defRPr>
            </a:pPr>
            <a:r>
              <a:t>Known limits: synchronous inference, schedulers off by default, scheduled retrain defaults to PCA, process-local hot-swap.</a:t>
            </a:r>
          </a:p>
          <a:p>
            <a:pPr>
              <a:spcAft>
                <a:spcPts val="700"/>
              </a:spcAft>
              <a:defRPr sz="1700">
                <a:solidFill>
                  <a:srgbClr val="1C1E38"/>
                </a:solidFill>
                <a:latin typeface="Aptos"/>
              </a:defRPr>
            </a:pPr>
            <a:r>
              <a:t>Roadmap: operator labels then supervised promotion, supervised alias setter, incident routing.</a:t>
            </a:r>
          </a:p>
          <a:p>
            <a:pPr>
              <a:spcAft>
                <a:spcPts val="700"/>
              </a:spcAft>
              <a:defRPr sz="1700">
                <a:solidFill>
                  <a:srgbClr val="1C1E38"/>
                </a:solidFill>
                <a:latin typeface="Aptos"/>
              </a:defRPr>
            </a:pPr>
            <a:r>
              <a:t>Closing thesis: an honest end-to-end anomaly-detection slice, not a standalone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846320"/>
            <a:ext cx="1554480" cy="1508760"/>
          </a:xfrm>
          <a:prstGeom prst="roundRect">
            <a:avLst/>
          </a:prstGeom>
          <a:solidFill>
            <a:srgbClr val="EEF0F8"/>
          </a:solidFill>
          <a:ln w="25400">
            <a:solidFill>
              <a:srgbClr val="28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10912"/>
            <a:ext cx="1225296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600" b="1">
                <a:solidFill>
                  <a:srgbClr val="289660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669280"/>
            <a:ext cx="126187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1C1E38"/>
                </a:solidFill>
                <a:latin typeface="Aptos"/>
              </a:defRPr>
            </a:pPr>
            <a:r>
              <a:t>Demo-ready local MLOps slice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4846320"/>
            <a:ext cx="1554480" cy="1508760"/>
          </a:xfrm>
          <a:prstGeom prst="roundRect">
            <a:avLst/>
          </a:prstGeom>
          <a:solidFill>
            <a:srgbClr val="EEF0F8"/>
          </a:solidFill>
          <a:ln w="25400">
            <a:solidFill>
              <a:srgbClr val="E6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5010912"/>
            <a:ext cx="1225296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600" b="1">
                <a:solidFill>
                  <a:srgbClr val="E6961E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5669280"/>
            <a:ext cx="1261872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1C1E38"/>
                </a:solidFill>
                <a:latin typeface="Aptos"/>
              </a:defRPr>
            </a:pPr>
            <a:r>
              <a:t>Operator labels + supervised gates</a:t>
            </a:r>
          </a:p>
        </p:txBody>
      </p:sp>
      <p:pic>
        <p:nvPicPr>
          <p:cNvPr id="13" name="Picture 12" descr="slide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3080"/>
            <a:ext cx="4800600" cy="3200400"/>
          </a:xfrm>
          <a:prstGeom prst="rect">
            <a:avLst/>
          </a:prstGeom>
        </p:spPr>
      </p:pic>
      <p:pic>
        <p:nvPicPr>
          <p:cNvPr id="14" name="Picture 13" descr="t9-evidence-stor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4572000"/>
            <a:ext cx="2743200" cy="1371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040880" y="5989320"/>
            <a:ext cx="4480560" cy="502920"/>
          </a:xfrm>
          <a:prstGeom prst="roundRect">
            <a:avLst/>
          </a:prstGeom>
          <a:solidFill>
            <a:srgbClr val="00807C"/>
          </a:solidFill>
          <a:ln>
            <a:solidFill>
              <a:srgbClr val="00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End-to-end platform, not a standalone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9692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>
                <a:solidFill>
                  <a:srgbClr val="6C748C"/>
                </a:solidFill>
                <a:latin typeface="Aptos"/>
              </a:defRPr>
            </a:pPr>
            <a:r>
              <a:t>README.md §Known Limitations; sprint-remaining.md §Architectural follow-ups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48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b="0">
                <a:solidFill>
                  <a:srgbClr val="6C748C"/>
                </a:solidFill>
                <a:latin typeface="Aptos"/>
              </a:defRPr>
            </a:pPr>
            <a:r>
              <a:t>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