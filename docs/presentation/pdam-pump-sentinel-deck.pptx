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RouteMQ + PCA T²/Q + MLflow + Grafana +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PDAM Pump 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508760"/>
            <a:ext cx="6766560" cy="74980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4400" b="1">
                <a:solidFill>
                  <a:srgbClr val="F5FAFC"/>
                </a:solidFill>
                <a:latin typeface="Aptos"/>
              </a:defRPr>
            </a:pPr>
            <a:r>
              <a:t>PDAM Pump 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676656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800" b="0">
                <a:solidFill>
                  <a:srgbClr val="46D0DC"/>
                </a:solidFill>
                <a:latin typeface="Aptos"/>
              </a:defRPr>
            </a:pPr>
            <a:r>
              <a:t>RouteMQ + PCA T²/Q + MLflow + Grafana +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6400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End-to-end AIoT slice for water-pump predictive maintenance.</a:t>
            </a:r>
          </a:p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SKAB water-circulation benchmark is used as surrogate academic data.</a:t>
            </a:r>
          </a:p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Contribution split: DevOps/RouteMQ foundation plus AI/ML MLOps lifecycle.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828800"/>
            <a:ext cx="1554480" cy="150876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2" y="1993392"/>
            <a:ext cx="1225296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600" b="1">
                <a:solidFill>
                  <a:srgbClr val="00B3A6"/>
                </a:solidFill>
                <a:latin typeface="Aptos"/>
              </a:defRPr>
            </a:pPr>
            <a: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64424" y="2651760"/>
            <a:ext cx="1261872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F5FAFC"/>
                </a:solidFill>
                <a:latin typeface="Aptos"/>
              </a:defRPr>
            </a:pPr>
            <a:r>
              <a:t>DevOps + RouteMQ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74352" y="1828800"/>
            <a:ext cx="1554480" cy="150876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8944" y="1993392"/>
            <a:ext cx="1225296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600" b="1">
                <a:solidFill>
                  <a:srgbClr val="FFC457"/>
                </a:solidFill>
                <a:latin typeface="Aptos"/>
              </a:defRPr>
            </a:pPr>
            <a: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0656" y="2651760"/>
            <a:ext cx="1261872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F5FAFC"/>
                </a:solidFill>
                <a:latin typeface="Aptos"/>
              </a:defRPr>
            </a:pPr>
            <a:r>
              <a:t>AI/ML + MLOps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4160520"/>
            <a:ext cx="3749039" cy="530352"/>
          </a:xfrm>
          <a:prstGeom prst="roundRect">
            <a:avLst/>
          </a:prstGeom>
          <a:solidFill>
            <a:srgbClr val="46D0DC"/>
          </a:solidFill>
          <a:ln>
            <a:solidFill>
              <a:srgbClr val="46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Surrogate dataset: SKAB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4828032"/>
            <a:ext cx="3749039" cy="530352"/>
          </a:xfrm>
          <a:prstGeom prst="roundRect">
            <a:avLst/>
          </a:prstGeom>
          <a:solidFill>
            <a:srgbClr val="58D38B"/>
          </a:solidFill>
          <a:ln>
            <a:solidFill>
              <a:srgbClr val="58D3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First-draft presentation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docs/plans/design.md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1/13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Pump faults are multivariate, gradual, and operationally costly.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Why This Problem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6492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Centrifugal pumps are critical assets in water distribution operations.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Simple min/max thresholds miss contextual, drift, and collective anomalies.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The goal is early condition monitoring, not just post-failure alerting.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828800"/>
            <a:ext cx="3611880" cy="3337560"/>
          </a:xfrm>
          <a:prstGeom prst="roundRect">
            <a:avLst/>
          </a:prstGeom>
          <a:solidFill>
            <a:srgbClr val="0F223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64423" y="1993392"/>
            <a:ext cx="3136392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00B3A6"/>
                </a:solidFill>
                <a:latin typeface="Aptos"/>
              </a:defRPr>
            </a:pPr>
            <a:r>
              <a:t>Presenter emphasis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4423" y="2414016"/>
            <a:ext cx="3136392" cy="25877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>
                <a:solidFill>
                  <a:srgbClr val="F5FAFC"/>
                </a:solidFill>
                <a:latin typeface="Aptos"/>
              </a:defRPr>
            </a:pPr>
            <a:r>
              <a:t>Move the audience from sensor charts to operational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docs/plans/design.md §2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The demo is evidence-driven, but it does not pretend to be live PDAM production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Scope and Honest Data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6492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SKAB is a public controlled water-circulation testbed with injected faults.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MVP excludes real ESP32 sensors, Kubernetes, and production incident routing.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The deck proves pipeline methodology and local demo readiness.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828800"/>
            <a:ext cx="3611880" cy="3337560"/>
          </a:xfrm>
          <a:prstGeom prst="roundRect">
            <a:avLst/>
          </a:prstGeom>
          <a:solidFill>
            <a:srgbClr val="0F223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64423" y="1993392"/>
            <a:ext cx="3136392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00B3A6"/>
                </a:solidFill>
                <a:latin typeface="Aptos"/>
              </a:defRPr>
            </a:pPr>
            <a:r>
              <a:t>Presenter emphasis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4423" y="2414016"/>
            <a:ext cx="3136392" cy="25877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>
                <a:solidFill>
                  <a:srgbClr val="F5FAFC"/>
                </a:solidFill>
                <a:latin typeface="Aptos"/>
              </a:defRPr>
            </a:pPr>
            <a:r>
              <a:t>Say the SKAB caveat early so the rest of the deck feels credible.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design.md §3; labeling-strategy-notes.md §3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DevOps, RouteMQ application, and MLOps are connected as one vertical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Architecture: Three-Layer Slice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65960"/>
            <a:ext cx="2743200" cy="182880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130552"/>
            <a:ext cx="237744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600" b="1">
                <a:solidFill>
                  <a:srgbClr val="00B3A6"/>
                </a:solidFill>
                <a:latin typeface="Aptos"/>
              </a:defRPr>
            </a:pPr>
            <a:r>
              <a:t>DevOps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42615"/>
            <a:ext cx="2231136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20" b="0">
                <a:solidFill>
                  <a:srgbClr val="F5FAFC"/>
                </a:solidFill>
                <a:latin typeface="Aptos"/>
              </a:defRPr>
            </a:pPr>
            <a:r>
              <a:t>Docker Compose</a:t>
            </a:r>
            <a:br/>
            <a:r>
              <a:t>Prometheus + Grafana</a:t>
            </a:r>
            <a:br/>
            <a:r>
              <a:t>Health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9392" y="1965960"/>
            <a:ext cx="2743200" cy="182880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46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2130552"/>
            <a:ext cx="237744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600" b="1">
                <a:solidFill>
                  <a:srgbClr val="46D0DC"/>
                </a:solidFill>
                <a:latin typeface="Aptos"/>
              </a:defRPr>
            </a:pPr>
            <a:r>
              <a:t>RouteMQ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642615"/>
            <a:ext cx="2231136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20" b="0">
                <a:solidFill>
                  <a:srgbClr val="F5FAFC"/>
                </a:solidFill>
                <a:latin typeface="Aptos"/>
              </a:defRPr>
            </a:pPr>
            <a:r>
              <a:t>MQTT Router</a:t>
            </a:r>
            <a:br/>
            <a:r>
              <a:t>Middleware + Controllers</a:t>
            </a:r>
            <a:br/>
            <a:r>
              <a:t>Redis + ClickHouse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5552" y="1965960"/>
            <a:ext cx="2743200" cy="182880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28431" y="2130552"/>
            <a:ext cx="237744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600" b="1">
                <a:solidFill>
                  <a:srgbClr val="FFC457"/>
                </a:solidFill>
                <a:latin typeface="Aptos"/>
              </a:defRPr>
            </a:pPr>
            <a:r>
              <a:t>MLOps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1583" y="2642615"/>
            <a:ext cx="2231136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20" b="0">
                <a:solidFill>
                  <a:srgbClr val="F5FAFC"/>
                </a:solidFill>
                <a:latin typeface="Aptos"/>
              </a:defRPr>
            </a:pPr>
            <a:r>
              <a:t>Training</a:t>
            </a:r>
            <a:br/>
            <a:r>
              <a:t>MLflow Registry</a:t>
            </a:r>
            <a:br/>
            <a:r>
              <a:t>Drift + Retrain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291840" y="2971800"/>
            <a:ext cx="658368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6858000" y="2971800"/>
            <a:ext cx="658368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102352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DevOps layer: Docker Compose, Prometheus, Grafana, health checks.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RouteMQ layer: MQTT router, middleware, controllers, Redis, ClickHouse.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MLOps layer: training, MLflow registry, Evidently drift, retraining, promotion.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docs/plans/design.md §5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Local observability evidence is implemented; production cloud readiness is roadmap.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What Is Implemented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6492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RouteMQ exposes framework and pump-specific metrics on /metrics.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Grafana covers RouteMQ, MLOps, system health, and MQTT broker dashboards.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Streamlit covers overview, live sensors, system health, and runbook triage.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make demo verifies T+0 through T+8, with optional T+9 observability evidence.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828800"/>
            <a:ext cx="3611880" cy="3337560"/>
          </a:xfrm>
          <a:prstGeom prst="roundRect">
            <a:avLst/>
          </a:prstGeom>
          <a:solidFill>
            <a:srgbClr val="0F223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64423" y="1993392"/>
            <a:ext cx="3136392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00B3A6"/>
                </a:solidFill>
                <a:latin typeface="Aptos"/>
              </a:defRPr>
            </a:pPr>
            <a:r>
              <a:t>Presenter emphasis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4423" y="2414016"/>
            <a:ext cx="3136392" cy="25877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>
                <a:solidFill>
                  <a:srgbClr val="F5FAFC"/>
                </a:solidFill>
                <a:latin typeface="Aptos"/>
              </a:defRPr>
            </a:pPr>
            <a:r>
              <a:t>Use “local evidence” language, not production-cloud language.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screenshot-checklist.md; sprint-remaining.md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The live narrative is a controlled lifecycle, not an ad-hoc clickthrough.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Demo Storyboard: T+0 to T+9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743200"/>
            <a:ext cx="1417320" cy="411480"/>
          </a:xfrm>
          <a:prstGeom prst="roundRect">
            <a:avLst/>
          </a:prstGeom>
          <a:solidFill>
            <a:srgbClr val="00B3A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Baseline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12264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86000" y="2743200"/>
            <a:ext cx="1417320" cy="411480"/>
          </a:xfrm>
          <a:prstGeom prst="roundRect">
            <a:avLst/>
          </a:prstGeom>
          <a:solidFill>
            <a:srgbClr val="FF6474"/>
          </a:solidFill>
          <a:ln>
            <a:solidFill>
              <a:srgbClr val="FF6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76272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Anomaly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39896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13632" y="2743200"/>
            <a:ext cx="1417320" cy="411480"/>
          </a:xfrm>
          <a:prstGeom prst="roundRect">
            <a:avLst/>
          </a:prstGeom>
          <a:solidFill>
            <a:srgbClr val="FFC457"/>
          </a:solidFill>
          <a:ln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Drift detect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67528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41264" y="2743200"/>
            <a:ext cx="1417320" cy="411480"/>
          </a:xfrm>
          <a:prstGeom prst="roundRect">
            <a:avLst/>
          </a:prstGeom>
          <a:solidFill>
            <a:srgbClr val="FFC457"/>
          </a:solidFill>
          <a:ln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31536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Retrain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59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68896" y="2743200"/>
            <a:ext cx="1417320" cy="411480"/>
          </a:xfrm>
          <a:prstGeom prst="roundRect">
            <a:avLst/>
          </a:prstGeom>
          <a:solidFill>
            <a:srgbClr val="FFC457"/>
          </a:solidFill>
          <a:ln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Promote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22792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96528" y="2743200"/>
            <a:ext cx="1417320" cy="411480"/>
          </a:xfrm>
          <a:prstGeom prst="roundRect">
            <a:avLst/>
          </a:prstGeom>
          <a:solidFill>
            <a:srgbClr val="00B3A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Recover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250424" y="2852928"/>
            <a:ext cx="347472" cy="201168"/>
          </a:xfrm>
          <a:prstGeom prst="rightArrow">
            <a:avLst/>
          </a:prstGeom>
          <a:solidFill>
            <a:srgbClr val="A8B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24160" y="2743200"/>
            <a:ext cx="1417320" cy="411480"/>
          </a:xfrm>
          <a:prstGeom prst="roundRect">
            <a:avLst/>
          </a:prstGeom>
          <a:solidFill>
            <a:srgbClr val="00B3A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T+9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4432" y="3310128"/>
            <a:ext cx="1636776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200" b="0">
                <a:solidFill>
                  <a:srgbClr val="F5FAFC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4160520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F5FAFC"/>
                </a:solidFill>
                <a:latin typeface="Aptos"/>
              </a:defRPr>
            </a:pPr>
            <a:r>
              <a:t>T+0 baseline: champion model and healthy dashboard.</a:t>
            </a:r>
          </a:p>
          <a:p>
            <a:pPr>
              <a:spcAft>
                <a:spcPts val="700"/>
              </a:spcAft>
              <a:defRPr sz="1450">
                <a:solidFill>
                  <a:srgbClr val="F5FAFC"/>
                </a:solidFill>
                <a:latin typeface="Aptos"/>
              </a:defRPr>
            </a:pPr>
            <a:r>
              <a:t>T+1/T+2: normal replay followed by anomalous replay.</a:t>
            </a:r>
          </a:p>
          <a:p>
            <a:pPr>
              <a:spcAft>
                <a:spcPts val="700"/>
              </a:spcAft>
              <a:defRPr sz="1450">
                <a:solidFill>
                  <a:srgbClr val="F5FAFC"/>
                </a:solidFill>
                <a:latin typeface="Aptos"/>
              </a:defRPr>
            </a:pPr>
            <a:r>
              <a:t>T+3/T+4: drift injection and drift detection.</a:t>
            </a:r>
          </a:p>
          <a:p>
            <a:pPr>
              <a:spcAft>
                <a:spcPts val="700"/>
              </a:spcAft>
              <a:defRPr sz="1450">
                <a:solidFill>
                  <a:srgbClr val="F5FAFC"/>
                </a:solidFill>
                <a:latin typeface="Aptos"/>
              </a:defRPr>
            </a:pPr>
            <a:r>
              <a:t>T+5-T+8: retrain, verify challenger, promote alias, hot-swap inference.</a:t>
            </a:r>
          </a:p>
          <a:p>
            <a:pPr>
              <a:spcAft>
                <a:spcPts val="700"/>
              </a:spcAft>
              <a:defRPr sz="1450">
                <a:solidFill>
                  <a:srgbClr val="F5FAFC"/>
                </a:solidFill>
                <a:latin typeface="Aptos"/>
              </a:defRPr>
            </a:pPr>
            <a:r>
              <a:t>T+9: optional observability evidence capture.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docs/presentation/screenshot-checklist.md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PCA is selected for deployability before labeled fault inventory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Why PCA-Spectral as Day-1 Champion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6492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Normal-baseline-first matches industrial predictive-maintenance cold starts.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T² tracks distance along learned normal patterns; Q/SPE tracks residuals.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PCA is fast, decomposable, and operator-explainable for the first deployment stage.</a:t>
            </a:r>
          </a:p>
          <a:p>
            <a:pPr>
              <a:spcAft>
                <a:spcPts val="700"/>
              </a:spcAft>
              <a:defRPr sz="1900">
                <a:solidFill>
                  <a:srgbClr val="F5FAFC"/>
                </a:solidFill>
                <a:latin typeface="Aptos"/>
              </a:defRPr>
            </a:pPr>
            <a:r>
              <a:t>Supervised models remain challengers once operator labels mature.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828800"/>
            <a:ext cx="3611880" cy="3337560"/>
          </a:xfrm>
          <a:prstGeom prst="roundRect">
            <a:avLst/>
          </a:prstGeom>
          <a:solidFill>
            <a:srgbClr val="0F223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64423" y="1993392"/>
            <a:ext cx="3136392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00B3A6"/>
                </a:solidFill>
                <a:latin typeface="Aptos"/>
              </a:defRPr>
            </a:pPr>
            <a:r>
              <a:t>Presenter emphasis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4423" y="2414016"/>
            <a:ext cx="3136392" cy="25877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>
                <a:solidFill>
                  <a:srgbClr val="F5FAFC"/>
                </a:solidFill>
                <a:latin typeface="Aptos"/>
              </a:defRPr>
            </a:pPr>
            <a:r>
              <a:t>One clear claim per slide; defer implementation details to Q&amp;A.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labeling-strategy-notes.md; sprint-remaining.md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The same model family can look very different depending on split honesty.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Honest Evaluation Spectrum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" y="1828800"/>
            <a:ext cx="3063240" cy="457200"/>
          </a:xfrm>
          <a:prstGeom prst="roundRect">
            <a:avLst/>
          </a:prstGeom>
          <a:solidFill>
            <a:srgbClr val="58D38B"/>
          </a:solidFill>
          <a:ln>
            <a:solidFill>
              <a:srgbClr val="58D3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PCA-spectral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87952" y="1865376"/>
            <a:ext cx="31546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F5FAFC"/>
                </a:solidFill>
                <a:latin typeface="Aptos"/>
              </a:defRPr>
            </a:pPr>
            <a:r>
              <a:t>normal-only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65376"/>
            <a:ext cx="237744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58D38B"/>
                </a:solidFill>
                <a:latin typeface="Aptos"/>
              </a:defRPr>
            </a:pPr>
            <a:r>
              <a:t>F1 ≈ 0.58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670048"/>
            <a:ext cx="3063240" cy="457200"/>
          </a:xfrm>
          <a:prstGeom prst="roundRect">
            <a:avLst/>
          </a:prstGeom>
          <a:solidFill>
            <a:srgbClr val="46D0DC"/>
          </a:solidFill>
          <a:ln>
            <a:solidFill>
              <a:srgbClr val="46D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Supervised cross-group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87952" y="2706624"/>
            <a:ext cx="31546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F5FAFC"/>
                </a:solidFill>
                <a:latin typeface="Aptos"/>
              </a:defRPr>
            </a:pPr>
            <a:r>
              <a:t>labeled anomalies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06624"/>
            <a:ext cx="237744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46D0DC"/>
                </a:solidFill>
                <a:latin typeface="Aptos"/>
              </a:defRPr>
            </a:pPr>
            <a:r>
              <a:t>F1 ≈ 0.60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511296"/>
            <a:ext cx="3063240" cy="457200"/>
          </a:xfrm>
          <a:prstGeom prst="roundRect">
            <a:avLst/>
          </a:prstGeom>
          <a:solidFill>
            <a:srgbClr val="FFC457"/>
          </a:solidFill>
          <a:ln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XGB/LGBM in-distribution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3547872"/>
            <a:ext cx="31546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F5FAFC"/>
                </a:solidFill>
                <a:latin typeface="Aptos"/>
              </a:defRPr>
            </a:pPr>
            <a:r>
              <a:t>known faults in train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547872"/>
            <a:ext cx="237744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FFC457"/>
                </a:solidFill>
                <a:latin typeface="Aptos"/>
              </a:defRPr>
            </a:pPr>
            <a:r>
              <a:t>F1 ≈ 0.90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4352544"/>
            <a:ext cx="3063240" cy="457200"/>
          </a:xfrm>
          <a:prstGeom prst="roundRect">
            <a:avLst/>
          </a:prstGeom>
          <a:solidFill>
            <a:srgbClr val="FF6474"/>
          </a:solidFill>
          <a:ln>
            <a:solidFill>
              <a:srgbClr val="FF6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Random-window leakage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2" y="4389120"/>
            <a:ext cx="315468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F5FAFC"/>
                </a:solidFill>
                <a:latin typeface="Aptos"/>
              </a:defRPr>
            </a:pPr>
            <a:r>
              <a:t>not defensible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389120"/>
            <a:ext cx="237744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1">
                <a:solidFill>
                  <a:srgbClr val="FF6474"/>
                </a:solidFill>
                <a:latin typeface="Aptos"/>
              </a:defRPr>
            </a:pPr>
            <a:r>
              <a:t>do not claim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4709160"/>
            <a:ext cx="3520440" cy="1078992"/>
          </a:xfrm>
          <a:prstGeom prst="roundRect">
            <a:avLst/>
          </a:prstGeom>
          <a:solidFill>
            <a:srgbClr val="0F223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55864" y="4873752"/>
            <a:ext cx="3044952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1">
                <a:solidFill>
                  <a:srgbClr val="00B3A6"/>
                </a:solidFill>
                <a:latin typeface="Aptos"/>
              </a:defRPr>
            </a:pPr>
            <a:r>
              <a:t>Rule for 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55864" y="5294376"/>
            <a:ext cx="3044952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300" b="0">
                <a:solidFill>
                  <a:srgbClr val="F5FAFC"/>
                </a:solidFill>
                <a:latin typeface="Aptos"/>
              </a:defRPr>
            </a:pPr>
            <a:r>
              <a:t>Never present an in-distribution number as novel-fault readiness.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docs/plans/sprint-remaining.md §Honest evaluation spectrum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Registry, champion alias, drift/retrain path, and operator action evidence are visible.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MLOps Loop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64208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MLflow model registry supports champion/challenger promotion path.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Champion-challenger gate protects F1 margin and false-alarm-rate guardrails.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Grafana MLOps dashboard surfaces loop signals and operator action evidence.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07992" y="1691639"/>
            <a:ext cx="6812279" cy="3877055"/>
          </a:xfrm>
          <a:prstGeom prst="roundRect">
            <a:avLst/>
          </a:prstGeom>
          <a:solidFill>
            <a:srgbClr val="0F2236"/>
          </a:solidFill>
          <a:ln w="1524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9-observability-grafana-mlops-observability-20260609T130723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1737360"/>
            <a:ext cx="6720840" cy="3785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5596128"/>
            <a:ext cx="6583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50" b="0">
                <a:solidFill>
                  <a:srgbClr val="A8B9C4"/>
                </a:solidFill>
                <a:latin typeface="Aptos"/>
              </a:defRPr>
            </a:pPr>
            <a:r>
              <a:t>t9-observability-grafana-mlops-observability-20260609T130723Z.png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labeling-strategy-notes.md §4; screenshot-checklist.md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Ingestion, inference, and persistence are observable from the RouteMQ/Grafana layer.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Pipeline Observability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64208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Dispatch, inference latency, anomaly score, persistence writes, and freshness are measurable.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This is local Docker Compose observability evidence, not a production SRE claim.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The objective is operable demo proof, not decorative monitoring.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07992" y="1691639"/>
            <a:ext cx="6812279" cy="3877055"/>
          </a:xfrm>
          <a:prstGeom prst="roundRect">
            <a:avLst/>
          </a:prstGeom>
          <a:solidFill>
            <a:srgbClr val="0F2236"/>
          </a:solidFill>
          <a:ln w="1524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9-observability-grafana-pipeline-observability-20260609T130723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1737360"/>
            <a:ext cx="6720840" cy="3785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5596128"/>
            <a:ext cx="6583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50" b="0">
                <a:solidFill>
                  <a:srgbClr val="A8B9C4"/>
                </a:solidFill>
                <a:latin typeface="Aptos"/>
              </a:defRPr>
            </a:pPr>
            <a:r>
              <a:t>t9-observability-grafana-pipeline-observability-20260609T130723Z.png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 §Bukti Observability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Dependency health and active model freshness are visible before the Q&amp;A starts.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System Health and SLO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664208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System-health dashboard tracks scrape health and freshness signals.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Local alert rules cover telemetry freshness, inference errors, persistence errors, and model age.</a:t>
            </a:r>
          </a:p>
          <a:p>
            <a:pPr>
              <a:spcAft>
                <a:spcPts val="700"/>
              </a:spcAft>
              <a:defRPr sz="1350">
                <a:solidFill>
                  <a:srgbClr val="F5FAFC"/>
                </a:solidFill>
                <a:latin typeface="Aptos"/>
              </a:defRPr>
            </a:pPr>
            <a:r>
              <a:t>Runbook readiness exists locally; production escalation remains future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07992" y="1691639"/>
            <a:ext cx="6812279" cy="3877055"/>
          </a:xfrm>
          <a:prstGeom prst="roundRect">
            <a:avLst/>
          </a:prstGeom>
          <a:solidFill>
            <a:srgbClr val="0F2236"/>
          </a:solidFill>
          <a:ln w="1524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9-observability-grafana-slo-health-20260609T130723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1737360"/>
            <a:ext cx="6720840" cy="3785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5596128"/>
            <a:ext cx="658368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50" b="0">
                <a:solidFill>
                  <a:srgbClr val="A8B9C4"/>
                </a:solidFill>
                <a:latin typeface="Aptos"/>
              </a:defRPr>
            </a:pPr>
            <a:r>
              <a:t>t9-observability-grafana-slo-health-20260609T130723Z.png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sprint-remaining.md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The operator surface includes status, observability snapshot, and metric-driven triage.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Operator Console and Runbook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664208"/>
            <a:ext cx="10698480" cy="3291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600" b="0">
                <a:solidFill>
                  <a:srgbClr val="46D0DC"/>
                </a:solidFill>
                <a:latin typeface="Aptos"/>
              </a:defRPr>
            </a:pPr>
            <a:r>
              <a:t>Status → metric evidence → runbook step → action history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7" y="2240280"/>
            <a:ext cx="5303520" cy="3017520"/>
          </a:xfrm>
          <a:prstGeom prst="roundRect">
            <a:avLst/>
          </a:prstGeom>
          <a:solidFill>
            <a:srgbClr val="0F2236"/>
          </a:solidFill>
          <a:ln w="1524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9-observability-streamlit-observability-snapshot-20260628T0535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86000"/>
            <a:ext cx="521208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0488" y="2240280"/>
            <a:ext cx="5303520" cy="3017520"/>
          </a:xfrm>
          <a:prstGeom prst="roundRect">
            <a:avLst/>
          </a:prstGeom>
          <a:solidFill>
            <a:srgbClr val="0F2236"/>
          </a:solidFill>
          <a:ln w="15240"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9-observability-streamlit-runbook-observability-20260628T0535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2286000"/>
            <a:ext cx="5212080" cy="29260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9808" y="5413248"/>
            <a:ext cx="2103120" cy="384048"/>
          </a:xfrm>
          <a:prstGeom prst="roundRect">
            <a:avLst/>
          </a:prstGeom>
          <a:solidFill>
            <a:srgbClr val="00B3A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Observability 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5413248"/>
            <a:ext cx="2103120" cy="384048"/>
          </a:xfrm>
          <a:prstGeom prst="roundRect">
            <a:avLst/>
          </a:prstGeom>
          <a:solidFill>
            <a:srgbClr val="FFC457"/>
          </a:solidFill>
          <a:ln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Metric-driven 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README.md; screenshot-checklist.md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0B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384048"/>
            <a:ext cx="5029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200" b="1">
                <a:solidFill>
                  <a:srgbClr val="A8B9C4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47472"/>
            <a:ext cx="10744200" cy="38404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1400" b="0">
                <a:solidFill>
                  <a:srgbClr val="A8B9C4"/>
                </a:solidFill>
                <a:latin typeface="Aptos"/>
              </a:defRPr>
            </a:pPr>
            <a:r>
              <a:t>The MVP is demo-ready because its limits are explicit, not hidden.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95528"/>
            <a:ext cx="10972800" cy="62179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3000" b="1">
                <a:solidFill>
                  <a:srgbClr val="F5FAFC"/>
                </a:solidFill>
                <a:latin typeface="Aptos"/>
              </a:defRPr>
            </a:pPr>
            <a:r>
              <a:t>Limitations, Roadmap,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37360"/>
            <a:ext cx="6629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Known limits: synchronous inference, env-flag schedulers, PCA-only scheduled retrain, local hot-swap.</a:t>
            </a:r>
          </a:p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Roadmap: operator labels, supervised promotion gates, supervised alias setter, incident routing.</a:t>
            </a:r>
          </a:p>
          <a:p>
            <a:pPr>
              <a:spcAft>
                <a:spcPts val="700"/>
              </a:spcAft>
              <a:defRPr sz="1800">
                <a:solidFill>
                  <a:srgbClr val="F5FAFC"/>
                </a:solidFill>
                <a:latin typeface="Aptos"/>
              </a:defRPr>
            </a:pPr>
            <a:r>
              <a:t>Closing thesis: this is an end-to-end MLOps platform, not a standalone anomaly notebook.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74519"/>
            <a:ext cx="1554480" cy="150876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58D3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2039112"/>
            <a:ext cx="1225296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600" b="1">
                <a:solidFill>
                  <a:srgbClr val="58D38B"/>
                </a:solidFill>
                <a:latin typeface="Aptos"/>
              </a:defRPr>
            </a:pPr>
            <a: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2697479"/>
            <a:ext cx="1261872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F5FAFC"/>
                </a:solidFill>
                <a:latin typeface="Aptos"/>
              </a:defRPr>
            </a:pPr>
            <a:r>
              <a:t>Demo-ready local MLOps slice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1874519"/>
            <a:ext cx="1554480" cy="1508760"/>
          </a:xfrm>
          <a:prstGeom prst="roundRect">
            <a:avLst/>
          </a:prstGeom>
          <a:solidFill>
            <a:srgbClr val="0F2236"/>
          </a:solidFill>
          <a:ln w="25400">
            <a:solidFill>
              <a:srgbClr val="FFC4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11512" y="2039112"/>
            <a:ext cx="1225296" cy="47548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2600" b="1">
                <a:solidFill>
                  <a:srgbClr val="FFC457"/>
                </a:solidFill>
                <a:latin typeface="Aptos"/>
              </a:defRPr>
            </a:pPr>
            <a:r>
              <a:t>Next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3224" y="2697479"/>
            <a:ext cx="1261872" cy="43891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050" b="0">
                <a:solidFill>
                  <a:srgbClr val="F5FAFC"/>
                </a:solidFill>
                <a:latin typeface="Aptos"/>
              </a:defRPr>
            </a:pPr>
            <a:r>
              <a:t>Operator labels + supervised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27264" y="4224528"/>
            <a:ext cx="3730752" cy="676656"/>
          </a:xfrm>
          <a:prstGeom prst="roundRect">
            <a:avLst/>
          </a:prstGeom>
          <a:solidFill>
            <a:srgbClr val="00B3A6"/>
          </a:solidFill>
          <a:ln>
            <a:solidFill>
              <a:srgbClr val="00B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C1625"/>
                </a:solidFill>
                <a:latin typeface="Aptos"/>
              </a:defRPr>
            </a:pPr>
            <a:r>
              <a:t>End-to-end platform, not a standalone notebook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9692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>
              <a:defRPr sz="780" b="0">
                <a:solidFill>
                  <a:srgbClr val="A8B9C4"/>
                </a:solidFill>
                <a:latin typeface="Aptos"/>
              </a:defRPr>
            </a:pPr>
            <a:r>
              <a:t>README.md §Known Limitations; sprint-remaining.md §Architectural follow-ups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548640" cy="23774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>
              <a:defRPr sz="800" b="0">
                <a:solidFill>
                  <a:srgbClr val="A8B9C4"/>
                </a:solidFill>
                <a:latin typeface="Aptos"/>
              </a:defRPr>
            </a:pPr>
            <a: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